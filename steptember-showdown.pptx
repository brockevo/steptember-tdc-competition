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Steps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101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Escalated to the Stepping Committee  2,010,568</c:v>
                  </c:pt>
                  <c:pt idx="1">
                    <c:v>Finding Our Footing  1,752,951</c:v>
                  </c:pt>
                  <c:pt idx="2">
                    <c:v>Walkoholics  1,621,952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2010568</c:v>
                </c:pt>
                <c:pt idx="1">
                  <c:v>1752951</c:v>
                </c:pt>
                <c:pt idx="2">
                  <c:v>1621952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01014"/>
                  </a:solidFill>
                  <a:latin typeface="Calibri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0101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1056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the challenge, why we did it, and the three subteams.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a snapshot as at 11 October 2026 from data/teams.json. Team money comes from each team's Steptember page, so it may not equal the sum of individual amounts.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TDC Canberra – Steptember Challenge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05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money for the Cerebral Palsy Alliance  ·  September 2026</a:t>
            </a:r>
            <a:endParaRPr lang="en-US" sz="1600" dirty="0"/>
          </a:p>
        </p:txBody>
      </p:sp>
      <p:sp>
        <p:nvSpPr>
          <p:cNvPr id="4" name="Navy band"/>
          <p:cNvSpPr/>
          <p:nvPr/>
        </p:nvSpPr>
        <p:spPr>
          <a:xfrm>
            <a:off x="0" y="1600200"/>
            <a:ext cx="12191695" cy="1828800"/>
          </a:xfrm>
          <a:prstGeom prst="rect">
            <a:avLst/>
          </a:prstGeom>
          <a:solidFill>
            <a:srgbClr val="2B2170"/>
          </a:solidFill>
          <a:ln w="12700">
            <a:solidFill>
              <a:srgbClr val="2B2170"/>
            </a:solidFill>
            <a:prstDash val="solid"/>
          </a:ln>
        </p:spPr>
      </p:sp>
      <p:sp>
        <p:nvSpPr>
          <p:cNvPr id="5" name="Card 1"/>
          <p:cNvSpPr/>
          <p:nvPr/>
        </p:nvSpPr>
        <p:spPr>
          <a:xfrm>
            <a:off x="54864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6" name="Badge 1"/>
          <p:cNvSpPr/>
          <p:nvPr/>
        </p:nvSpPr>
        <p:spPr>
          <a:xfrm>
            <a:off x="180136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Card 2"/>
          <p:cNvSpPr/>
          <p:nvPr/>
        </p:nvSpPr>
        <p:spPr>
          <a:xfrm>
            <a:off x="438912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8" name="Badge 2"/>
          <p:cNvSpPr/>
          <p:nvPr/>
        </p:nvSpPr>
        <p:spPr>
          <a:xfrm>
            <a:off x="564184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Card 3"/>
          <p:cNvSpPr/>
          <p:nvPr/>
        </p:nvSpPr>
        <p:spPr>
          <a:xfrm>
            <a:off x="822960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10" name="Badge 3"/>
          <p:cNvSpPr/>
          <p:nvPr/>
        </p:nvSpPr>
        <p:spPr>
          <a:xfrm>
            <a:off x="948232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Badge icon 1"/>
          <p:cNvSpPr txBox="1"/>
          <p:nvPr/>
        </p:nvSpPr>
        <p:spPr>
          <a:xfrm>
            <a:off x="180136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🪜</a:t>
            </a:r>
            <a:endParaRPr lang="en-US" sz="2800" dirty="0"/>
          </a:p>
        </p:txBody>
      </p:sp>
      <p:sp>
        <p:nvSpPr>
          <p:cNvPr id="12" name="Badge icon 2"/>
          <p:cNvSpPr txBox="1"/>
          <p:nvPr/>
        </p:nvSpPr>
        <p:spPr>
          <a:xfrm>
            <a:off x="564184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3" name="Badge icon 3"/>
          <p:cNvSpPr txBox="1"/>
          <p:nvPr/>
        </p:nvSpPr>
        <p:spPr>
          <a:xfrm>
            <a:off x="948232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14" name="Heading 1"/>
          <p:cNvSpPr txBox="1"/>
          <p:nvPr/>
        </p:nvSpPr>
        <p:spPr>
          <a:xfrm>
            <a:off x="73152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600" dirty="0"/>
          </a:p>
        </p:txBody>
      </p:sp>
      <p:sp>
        <p:nvSpPr>
          <p:cNvPr id="15" name="Heading 2"/>
          <p:cNvSpPr txBox="1"/>
          <p:nvPr/>
        </p:nvSpPr>
        <p:spPr>
          <a:xfrm>
            <a:off x="457200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endParaRPr lang="en-US" sz="2600" dirty="0"/>
          </a:p>
        </p:txBody>
      </p:sp>
      <p:sp>
        <p:nvSpPr>
          <p:cNvPr id="16" name="Heading 3"/>
          <p:cNvSpPr txBox="1"/>
          <p:nvPr/>
        </p:nvSpPr>
        <p:spPr>
          <a:xfrm>
            <a:off x="841248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Subteams</a:t>
            </a:r>
            <a:endParaRPr lang="en-US" sz="2600" dirty="0"/>
          </a:p>
        </p:txBody>
      </p:sp>
      <p:sp>
        <p:nvSpPr>
          <p:cNvPr id="17" name="Body 1"/>
          <p:cNvSpPr txBox="1"/>
          <p:nvPr/>
        </p:nvSpPr>
        <p:spPr>
          <a:xfrm>
            <a:off x="777240" y="306324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300,000 individual steps in September</a:t>
            </a:r>
            <a:endParaRPr lang="en-US" sz="1800" dirty="0"/>
          </a:p>
        </p:txBody>
      </p:sp>
      <p:sp>
        <p:nvSpPr>
          <p:cNvPr id="18" name="Body 2"/>
          <p:cNvSpPr txBox="1"/>
          <p:nvPr/>
        </p:nvSpPr>
        <p:spPr>
          <a:xfrm>
            <a:off x="4617720" y="306324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money and awareness for children with cerebral palsy</a:t>
            </a:r>
            <a:endParaRPr lang="en-US" sz="1800" dirty="0"/>
          </a:p>
        </p:txBody>
      </p:sp>
      <p:pic>
        <p:nvPicPr>
          <p:cNvPr id="19" name="Image 0" descr="Two hikers walking a mountain tr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4114800"/>
            <a:ext cx="2926080" cy="1950415"/>
          </a:xfrm>
          <a:prstGeom prst="rect">
            <a:avLst/>
          </a:prstGeom>
        </p:spPr>
      </p:pic>
      <p:pic>
        <p:nvPicPr>
          <p:cNvPr id="20" name="Image 1" descr="A child in a wheelchair hugging a family mem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4114800"/>
            <a:ext cx="2926080" cy="1950415"/>
          </a:xfrm>
          <a:prstGeom prst="rect">
            <a:avLst/>
          </a:prstGeom>
        </p:spPr>
      </p:pic>
      <p:sp>
        <p:nvSpPr>
          <p:cNvPr id="21" name="Team dot 1"/>
          <p:cNvSpPr/>
          <p:nvPr/>
        </p:nvSpPr>
        <p:spPr>
          <a:xfrm>
            <a:off x="8732520" y="3282696"/>
            <a:ext cx="182880" cy="1828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am 1"/>
          <p:cNvSpPr txBox="1"/>
          <p:nvPr/>
        </p:nvSpPr>
        <p:spPr>
          <a:xfrm>
            <a:off x="90525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Walkoholics</a:t>
            </a:r>
            <a:endParaRPr lang="en-US" sz="1800" dirty="0"/>
          </a:p>
        </p:txBody>
      </p:sp>
      <p:sp>
        <p:nvSpPr>
          <p:cNvPr id="23" name="Team dot 2"/>
          <p:cNvSpPr/>
          <p:nvPr/>
        </p:nvSpPr>
        <p:spPr>
          <a:xfrm>
            <a:off x="8732520" y="3785616"/>
            <a:ext cx="182880" cy="18288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4" name="Team 2"/>
          <p:cNvSpPr txBox="1"/>
          <p:nvPr/>
        </p:nvSpPr>
        <p:spPr>
          <a:xfrm>
            <a:off x="9052560" y="3703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Committee</a:t>
            </a:r>
            <a:endParaRPr lang="en-US" sz="1800" dirty="0"/>
          </a:p>
        </p:txBody>
      </p:sp>
      <p:sp>
        <p:nvSpPr>
          <p:cNvPr id="25" name="Team dot 3"/>
          <p:cNvSpPr/>
          <p:nvPr/>
        </p:nvSpPr>
        <p:spPr>
          <a:xfrm>
            <a:off x="8732520" y="4288536"/>
            <a:ext cx="182880" cy="1828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6" name="Team 3"/>
          <p:cNvSpPr txBox="1"/>
          <p:nvPr/>
        </p:nvSpPr>
        <p:spPr>
          <a:xfrm>
            <a:off x="905256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Our Footing</a:t>
            </a:r>
            <a:endParaRPr lang="en-US" sz="1800" dirty="0"/>
          </a:p>
        </p:txBody>
      </p:sp>
      <p:sp>
        <p:nvSpPr>
          <p:cNvPr id="27" name="Steppers count"/>
          <p:cNvSpPr txBox="1"/>
          <p:nvPr/>
        </p:nvSpPr>
        <p:spPr>
          <a:xfrm>
            <a:off x="8412480" y="48920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7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5400" dirty="0"/>
          </a:p>
        </p:txBody>
      </p:sp>
      <p:sp>
        <p:nvSpPr>
          <p:cNvPr id="28" name="Steppers label"/>
          <p:cNvSpPr txBox="1"/>
          <p:nvPr/>
        </p:nvSpPr>
        <p:spPr>
          <a:xfrm>
            <a:off x="8412480" y="56692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TDC Canberra – Steptember Results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05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money for the Cerebral Palsy Alliance  ·  September 2026</a:t>
            </a:r>
            <a:endParaRPr lang="en-US" sz="1600" dirty="0"/>
          </a:p>
        </p:txBody>
      </p:sp>
      <p:sp>
        <p:nvSpPr>
          <p:cNvPr id="4" name="Mission box"/>
          <p:cNvSpPr/>
          <p:nvPr/>
        </p:nvSpPr>
        <p:spPr>
          <a:xfrm>
            <a:off x="548640" y="1508760"/>
            <a:ext cx="11091672" cy="1691640"/>
          </a:xfrm>
          <a:prstGeom prst="roundRect">
            <a:avLst>
              <a:gd name="adj" fmla="val 13514"/>
            </a:avLst>
          </a:prstGeom>
          <a:solidFill>
            <a:srgbClr val="F2F2F5"/>
          </a:solidFill>
          <a:ln w="31750">
            <a:solidFill>
              <a:srgbClr val="8A2BE2"/>
            </a:solidFill>
            <a:prstDash val="dash"/>
          </a:ln>
        </p:spPr>
      </p:sp>
      <p:sp>
        <p:nvSpPr>
          <p:cNvPr id="5" name="Mission heading"/>
          <p:cNvSpPr txBox="1"/>
          <p:nvPr/>
        </p:nvSpPr>
        <p:spPr>
          <a:xfrm>
            <a:off x="548640" y="1572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Mission accomplished! 🎉</a:t>
            </a:r>
            <a:endParaRPr lang="en-US" sz="2600" dirty="0"/>
          </a:p>
        </p:txBody>
      </p:sp>
      <p:sp>
        <p:nvSpPr>
          <p:cNvPr id="6" name="Mission rule"/>
          <p:cNvSpPr/>
          <p:nvPr/>
        </p:nvSpPr>
        <p:spPr>
          <a:xfrm>
            <a:off x="868680" y="2084832"/>
            <a:ext cx="10451592" cy="0"/>
          </a:xfrm>
          <a:prstGeom prst="line">
            <a:avLst/>
          </a:prstGeom>
          <a:noFill/>
          <a:ln w="19050">
            <a:solidFill>
              <a:srgbClr val="E3A6F0"/>
            </a:solidFill>
            <a:prstDash val="solid"/>
          </a:ln>
        </p:spPr>
      </p:sp>
      <p:sp>
        <p:nvSpPr>
          <p:cNvPr id="7" name="Stat 1"/>
          <p:cNvSpPr txBox="1"/>
          <p:nvPr/>
        </p:nvSpPr>
        <p:spPr>
          <a:xfrm>
            <a:off x="868680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5,385,471</a:t>
            </a:r>
            <a:endParaRPr lang="en-US" sz="3200" dirty="0"/>
          </a:p>
        </p:txBody>
      </p:sp>
      <p:sp>
        <p:nvSpPr>
          <p:cNvPr id="8" name="Stat label 1"/>
          <p:cNvSpPr txBox="1"/>
          <p:nvPr/>
        </p:nvSpPr>
        <p:spPr>
          <a:xfrm>
            <a:off x="868680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STEPS</a:t>
            </a:r>
            <a:endParaRPr lang="en-US" sz="1200" dirty="0"/>
          </a:p>
        </p:txBody>
      </p:sp>
      <p:sp>
        <p:nvSpPr>
          <p:cNvPr id="9" name="Stat 2"/>
          <p:cNvSpPr txBox="1"/>
          <p:nvPr/>
        </p:nvSpPr>
        <p:spPr>
          <a:xfrm>
            <a:off x="3483864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</a:t>
            </a:r>
            <a:endParaRPr lang="en-US" sz="3200" dirty="0"/>
          </a:p>
        </p:txBody>
      </p:sp>
      <p:sp>
        <p:nvSpPr>
          <p:cNvPr id="10" name="Stat label 2"/>
          <p:cNvSpPr txBox="1"/>
          <p:nvPr/>
        </p:nvSpPr>
        <p:spPr>
          <a:xfrm>
            <a:off x="3483864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RAISED (AUD)</a:t>
            </a:r>
            <a:endParaRPr lang="en-US" sz="1200" dirty="0"/>
          </a:p>
        </p:txBody>
      </p:sp>
      <p:sp>
        <p:nvSpPr>
          <p:cNvPr id="11" name="Stat 3"/>
          <p:cNvSpPr txBox="1"/>
          <p:nvPr/>
        </p:nvSpPr>
        <p:spPr>
          <a:xfrm>
            <a:off x="6099048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4,039 km</a:t>
            </a:r>
            <a:endParaRPr lang="en-US" sz="3200" dirty="0"/>
          </a:p>
        </p:txBody>
      </p:sp>
      <p:sp>
        <p:nvSpPr>
          <p:cNvPr id="12" name="Stat label 3"/>
          <p:cNvSpPr txBox="1"/>
          <p:nvPr/>
        </p:nvSpPr>
        <p:spPr>
          <a:xfrm>
            <a:off x="6099048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WALKED</a:t>
            </a:r>
            <a:endParaRPr lang="en-US" sz="1200" dirty="0"/>
          </a:p>
        </p:txBody>
      </p:sp>
      <p:sp>
        <p:nvSpPr>
          <p:cNvPr id="13" name="Stat 4"/>
          <p:cNvSpPr txBox="1"/>
          <p:nvPr/>
        </p:nvSpPr>
        <p:spPr>
          <a:xfrm>
            <a:off x="8714232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4" name="Stat label 4"/>
          <p:cNvSpPr txBox="1"/>
          <p:nvPr/>
        </p:nvSpPr>
        <p:spPr>
          <a:xfrm>
            <a:off x="8714232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STEPPERS IN 3 TEAMS</a:t>
            </a:r>
            <a:endParaRPr lang="en-US" sz="1200" dirty="0"/>
          </a:p>
        </p:txBody>
      </p:sp>
      <p:sp>
        <p:nvSpPr>
          <p:cNvPr id="15" name="Podium panel"/>
          <p:cNvSpPr/>
          <p:nvPr/>
        </p:nvSpPr>
        <p:spPr>
          <a:xfrm>
            <a:off x="548640" y="3429000"/>
            <a:ext cx="6766560" cy="301752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16" name="Podium heading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Most steps</a:t>
            </a:r>
            <a:endParaRPr lang="en-US" sz="2000" dirty="0"/>
          </a:p>
        </p:txBody>
      </p:sp>
      <p:sp>
        <p:nvSpPr>
          <p:cNvPr id="17" name="Podium subheading"/>
          <p:cNvSpPr txBox="1"/>
          <p:nvPr/>
        </p:nvSpPr>
        <p:spPr>
          <a:xfrm>
            <a:off x="822960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steppers</a:t>
            </a:r>
            <a:endParaRPr lang="en-US" sz="1200" dirty="0"/>
          </a:p>
        </p:txBody>
      </p:sp>
      <p:sp>
        <p:nvSpPr>
          <p:cNvPr id="18" name="Podium block 2"/>
          <p:cNvSpPr/>
          <p:nvPr/>
        </p:nvSpPr>
        <p:spPr>
          <a:xfrm>
            <a:off x="822960" y="5394960"/>
            <a:ext cx="1920240" cy="868680"/>
          </a:xfrm>
          <a:prstGeom prst="rect">
            <a:avLst/>
          </a:prstGeom>
          <a:solidFill>
            <a:srgbClr val="C9C2F3"/>
          </a:solidFill>
          <a:ln w="12700">
            <a:solidFill>
              <a:srgbClr val="C9C2F3"/>
            </a:solidFill>
            <a:prstDash val="solid"/>
          </a:ln>
        </p:spPr>
      </p:sp>
      <p:sp>
        <p:nvSpPr>
          <p:cNvPr id="19" name="Podium rank 2"/>
          <p:cNvSpPr txBox="1"/>
          <p:nvPr/>
        </p:nvSpPr>
        <p:spPr>
          <a:xfrm>
            <a:off x="822960" y="5440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Podium label 2"/>
          <p:cNvSpPr txBox="1"/>
          <p:nvPr/>
        </p:nvSpPr>
        <p:spPr>
          <a:xfrm>
            <a:off x="822960" y="4526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Dionne Marks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592,773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Our Footing</a:t>
            </a:r>
            <a:endParaRPr lang="en-US" sz="1600" dirty="0"/>
          </a:p>
        </p:txBody>
      </p:sp>
      <p:sp>
        <p:nvSpPr>
          <p:cNvPr id="21" name="Podium block 1"/>
          <p:cNvSpPr/>
          <p:nvPr/>
        </p:nvSpPr>
        <p:spPr>
          <a:xfrm>
            <a:off x="2971800" y="5074920"/>
            <a:ext cx="1920240" cy="1188720"/>
          </a:xfrm>
          <a:prstGeom prst="rect">
            <a:avLst/>
          </a:prstGeom>
          <a:solidFill>
            <a:srgbClr val="F7B955"/>
          </a:solidFill>
          <a:ln w="12700">
            <a:solidFill>
              <a:srgbClr val="F7B955"/>
            </a:solidFill>
            <a:prstDash val="solid"/>
          </a:ln>
        </p:spPr>
      </p:sp>
      <p:sp>
        <p:nvSpPr>
          <p:cNvPr id="22" name="Podium rank 1"/>
          <p:cNvSpPr txBox="1"/>
          <p:nvPr/>
        </p:nvSpPr>
        <p:spPr>
          <a:xfrm>
            <a:off x="2971800" y="5120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23" name="Podium label 1"/>
          <p:cNvSpPr txBox="1"/>
          <p:nvPr/>
        </p:nvSpPr>
        <p:spPr>
          <a:xfrm>
            <a:off x="2971800" y="42062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walker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601,802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the Stepping Committee</a:t>
            </a:r>
            <a:endParaRPr lang="en-US" sz="1600" dirty="0"/>
          </a:p>
        </p:txBody>
      </p:sp>
      <p:sp>
        <p:nvSpPr>
          <p:cNvPr id="24" name="Podium block 3"/>
          <p:cNvSpPr/>
          <p:nvPr/>
        </p:nvSpPr>
        <p:spPr>
          <a:xfrm>
            <a:off x="5120640" y="5623560"/>
            <a:ext cx="1920240" cy="640080"/>
          </a:xfrm>
          <a:prstGeom prst="rect">
            <a:avLst/>
          </a:prstGeom>
          <a:solidFill>
            <a:srgbClr val="A8E6CF"/>
          </a:solidFill>
          <a:ln w="12700">
            <a:solidFill>
              <a:srgbClr val="A8E6CF"/>
            </a:solidFill>
            <a:prstDash val="solid"/>
          </a:ln>
        </p:spPr>
      </p:sp>
      <p:sp>
        <p:nvSpPr>
          <p:cNvPr id="25" name="Podium rank 3"/>
          <p:cNvSpPr txBox="1"/>
          <p:nvPr/>
        </p:nvSpPr>
        <p:spPr>
          <a:xfrm>
            <a:off x="5120640" y="5669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6" name="Podium label 3"/>
          <p:cNvSpPr txBox="1"/>
          <p:nvPr/>
        </p:nvSpPr>
        <p:spPr>
          <a:xfrm>
            <a:off x="5120640" y="4754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chloe egle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576,906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the Stepping Committee</a:t>
            </a:r>
            <a:endParaRPr lang="en-US" sz="1600" dirty="0"/>
          </a:p>
        </p:txBody>
      </p:sp>
      <p:sp>
        <p:nvSpPr>
          <p:cNvPr id="27" name="Team steps panel"/>
          <p:cNvSpPr/>
          <p:nvPr/>
        </p:nvSpPr>
        <p:spPr>
          <a:xfrm>
            <a:off x="7589520" y="3429000"/>
            <a:ext cx="4050792" cy="178308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28" name="Team steps heading"/>
          <p:cNvSpPr txBox="1"/>
          <p:nvPr/>
        </p:nvSpPr>
        <p:spPr>
          <a:xfrm>
            <a:off x="7818120" y="3493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👟 Team steps</a:t>
            </a:r>
            <a:endParaRPr lang="en-US" sz="18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7726680" y="3840480"/>
          <a:ext cx="379476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op fundraiser card"/>
          <p:cNvSpPr/>
          <p:nvPr/>
        </p:nvSpPr>
        <p:spPr>
          <a:xfrm>
            <a:off x="7589520" y="5349240"/>
            <a:ext cx="4050792" cy="1097280"/>
          </a:xfrm>
          <a:prstGeom prst="roundRect">
            <a:avLst>
              <a:gd name="adj" fmla="val 20833"/>
            </a:avLst>
          </a:prstGeom>
          <a:solidFill>
            <a:srgbClr val="A8E6CF"/>
          </a:solidFill>
          <a:ln w="12700">
            <a:solidFill>
              <a:srgbClr val="A8E6CF"/>
            </a:solidFill>
            <a:prstDash val="solid"/>
          </a:ln>
        </p:spPr>
      </p:sp>
      <p:sp>
        <p:nvSpPr>
          <p:cNvPr id="31" name="Top fundraiser text"/>
          <p:cNvSpPr txBox="1"/>
          <p:nvPr/>
        </p:nvSpPr>
        <p:spPr>
          <a:xfrm>
            <a:off x="7818120" y="53949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TOP FUNDRAISER</a:t>
            </a:r>
            <a:endParaRPr lang="en-US" sz="12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 Coggin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$470 raised · Escalated to the Stepping Committee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TDC Canberra - Steptember Challenge</dc:title>
  <dc:subject>PptxGenJS Presentation</dc:subject>
  <dc:creator>TDC Canberra</dc:creator>
  <cp:lastModifiedBy>TDC Canberra</cp:lastModifiedBy>
  <cp:revision>1</cp:revision>
  <dcterms:created xsi:type="dcterms:W3CDTF">2026-10-12T09:06:35Z</dcterms:created>
  <dcterms:modified xsi:type="dcterms:W3CDTF">2026-10-12T09:06:35Z</dcterms:modified>
</cp:coreProperties>
</file>